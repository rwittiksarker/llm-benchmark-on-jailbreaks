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utura Bold" charset="1" panose="020B0702020204020203"/>
      <p:regular r:id="rId17"/>
    </p:embeddedFont>
    <p:embeddedFont>
      <p:font typeface="Futura" charset="1" panose="020B0502020204020303"/>
      <p:regular r:id="rId18"/>
    </p:embeddedFont>
    <p:embeddedFont>
      <p:font typeface="Poppins" charset="1" panose="00000500000000000000"/>
      <p:regular r:id="rId19"/>
    </p:embeddedFont>
    <p:embeddedFont>
      <p:font typeface="Inter Bold" charset="1" panose="020B0802030000000004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  <p:embeddedFont>
      <p:font typeface="Glacial Indifference Bold" charset="1" panose="00000800000000000000"/>
      <p:regular r:id="rId23"/>
    </p:embeddedFont>
    <p:embeddedFont>
      <p:font typeface="Futura Bold Italics" charset="1" panose="020B0702020204090203"/>
      <p:regular r:id="rId24"/>
    </p:embeddedFont>
    <p:embeddedFont>
      <p:font typeface="Glacial Indifference Bold Italics" charset="1" panose="00000800000000000000"/>
      <p:regular r:id="rId25"/>
    </p:embeddedFont>
    <p:embeddedFont>
      <p:font typeface="Glacial Indifference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975613" y="6462346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255352" y="0"/>
            <a:ext cx="5397483" cy="2738428"/>
            <a:chOff x="0" y="0"/>
            <a:chExt cx="1421559" cy="7212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1559" cy="721232"/>
            </a:xfrm>
            <a:custGeom>
              <a:avLst/>
              <a:gdLst/>
              <a:ahLst/>
              <a:cxnLst/>
              <a:rect r="r" b="b" t="t" l="l"/>
              <a:pathLst>
                <a:path h="721232" w="1421559">
                  <a:moveTo>
                    <a:pt x="0" y="0"/>
                  </a:moveTo>
                  <a:lnTo>
                    <a:pt x="1421559" y="0"/>
                  </a:lnTo>
                  <a:lnTo>
                    <a:pt x="1421559" y="721232"/>
                  </a:lnTo>
                  <a:lnTo>
                    <a:pt x="0" y="721232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21559" cy="768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283979"/>
            <a:ext cx="18288000" cy="1246955"/>
            <a:chOff x="0" y="0"/>
            <a:chExt cx="4816593" cy="3284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328416"/>
            </a:xfrm>
            <a:custGeom>
              <a:avLst/>
              <a:gdLst/>
              <a:ahLst/>
              <a:cxnLst/>
              <a:rect r="r" b="b" t="t" l="l"/>
              <a:pathLst>
                <a:path h="328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28416"/>
                  </a:lnTo>
                  <a:lnTo>
                    <a:pt x="0" y="328416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16593" cy="376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16554" y="675445"/>
            <a:ext cx="15644124" cy="1673739"/>
          </a:xfrm>
          <a:custGeom>
            <a:avLst/>
            <a:gdLst/>
            <a:ahLst/>
            <a:cxnLst/>
            <a:rect r="r" b="b" t="t" l="l"/>
            <a:pathLst>
              <a:path h="1673739" w="15644124">
                <a:moveTo>
                  <a:pt x="0" y="0"/>
                </a:moveTo>
                <a:lnTo>
                  <a:pt x="15644124" y="0"/>
                </a:lnTo>
                <a:lnTo>
                  <a:pt x="15644124" y="1673739"/>
                </a:lnTo>
                <a:lnTo>
                  <a:pt x="0" y="1673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986" r="0" b="-1120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86721" y="6590966"/>
            <a:ext cx="2336179" cy="2481996"/>
          </a:xfrm>
          <a:custGeom>
            <a:avLst/>
            <a:gdLst/>
            <a:ahLst/>
            <a:cxnLst/>
            <a:rect r="r" b="b" t="t" l="l"/>
            <a:pathLst>
              <a:path h="2481996" w="2336179">
                <a:moveTo>
                  <a:pt x="0" y="0"/>
                </a:moveTo>
                <a:lnTo>
                  <a:pt x="2336178" y="0"/>
                </a:lnTo>
                <a:lnTo>
                  <a:pt x="2336178" y="2481996"/>
                </a:lnTo>
                <a:lnTo>
                  <a:pt x="0" y="248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795" y="9258300"/>
            <a:ext cx="1893557" cy="781523"/>
          </a:xfrm>
          <a:custGeom>
            <a:avLst/>
            <a:gdLst/>
            <a:ahLst/>
            <a:cxnLst/>
            <a:rect r="r" b="b" t="t" l="l"/>
            <a:pathLst>
              <a:path h="781523" w="1893557">
                <a:moveTo>
                  <a:pt x="0" y="0"/>
                </a:moveTo>
                <a:lnTo>
                  <a:pt x="1893557" y="0"/>
                </a:lnTo>
                <a:lnTo>
                  <a:pt x="1893557" y="781523"/>
                </a:lnTo>
                <a:lnTo>
                  <a:pt x="0" y="781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15716" y="4691042"/>
            <a:ext cx="14744962" cy="139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4"/>
              </a:lnSpc>
            </a:pPr>
            <a:r>
              <a:rPr lang="en-US" sz="4174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Comparative Analysis of LLMs Against Jailbreak Prompts</a:t>
            </a:r>
          </a:p>
          <a:p>
            <a:pPr algn="ctr" marL="0" indent="0" lvl="0">
              <a:lnSpc>
                <a:spcPts val="4724"/>
              </a:lnSpc>
            </a:pPr>
            <a:r>
              <a:rPr lang="en-US" sz="3374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Paper ID: 90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205377" y="9258300"/>
            <a:ext cx="13181343" cy="1028700"/>
          </a:xfrm>
          <a:custGeom>
            <a:avLst/>
            <a:gdLst/>
            <a:ahLst/>
            <a:cxnLst/>
            <a:rect r="r" b="b" t="t" l="l"/>
            <a:pathLst>
              <a:path h="1028700" w="13181343">
                <a:moveTo>
                  <a:pt x="0" y="0"/>
                </a:moveTo>
                <a:lnTo>
                  <a:pt x="13181344" y="0"/>
                </a:lnTo>
                <a:lnTo>
                  <a:pt x="1318134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09" r="0" b="-84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80852" y="9478087"/>
            <a:ext cx="3347915" cy="48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11"/>
              </a:lnSpc>
              <a:spcBef>
                <a:spcPct val="0"/>
              </a:spcBef>
            </a:pPr>
            <a:r>
              <a:rPr lang="en-US" sz="2508">
                <a:solidFill>
                  <a:srgbClr val="465739"/>
                </a:solidFill>
                <a:latin typeface="Futura"/>
                <a:ea typeface="Futura"/>
                <a:cs typeface="Futura"/>
                <a:sym typeface="Futura"/>
              </a:rPr>
              <a:t>29 January,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1779" y="6841841"/>
            <a:ext cx="5629277" cy="220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0"/>
              </a:lnSpc>
            </a:pPr>
            <a:r>
              <a:rPr lang="en-US" sz="20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 :</a:t>
            </a:r>
          </a:p>
          <a:p>
            <a:pPr algn="just">
              <a:lnSpc>
                <a:spcPts val="2920"/>
              </a:lnSpc>
            </a:pPr>
            <a:r>
              <a:rPr lang="en-US" sz="20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Rwittik Sarker</a:t>
            </a:r>
          </a:p>
          <a:p>
            <a:pPr algn="just">
              <a:lnSpc>
                <a:spcPts val="2920"/>
              </a:lnSpc>
            </a:pPr>
            <a:r>
              <a:rPr lang="en-US" sz="20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Anika Tabassum Omi</a:t>
            </a:r>
          </a:p>
          <a:p>
            <a:pPr algn="just">
              <a:lnSpc>
                <a:spcPts val="2920"/>
              </a:lnSpc>
            </a:pPr>
            <a:r>
              <a:rPr lang="en-US" sz="20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Nabil Walid Rafat</a:t>
            </a:r>
          </a:p>
          <a:p>
            <a:pPr algn="just">
              <a:lnSpc>
                <a:spcPts val="2920"/>
              </a:lnSpc>
            </a:pPr>
            <a:r>
              <a:rPr lang="en-US" sz="20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Zabid Rahman</a:t>
            </a:r>
          </a:p>
          <a:p>
            <a:pPr algn="just">
              <a:lnSpc>
                <a:spcPts val="2920"/>
              </a:lnSpc>
            </a:pPr>
            <a:r>
              <a:rPr lang="en-US" sz="20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Ferdous Ahmed Auvi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9033243" cy="11734612"/>
            <a:chOff x="0" y="0"/>
            <a:chExt cx="2379126" cy="3090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79126" cy="3090597"/>
            </a:xfrm>
            <a:custGeom>
              <a:avLst/>
              <a:gdLst/>
              <a:ahLst/>
              <a:cxnLst/>
              <a:rect r="r" b="b" t="t" l="l"/>
              <a:pathLst>
                <a:path h="3090597" w="2379126">
                  <a:moveTo>
                    <a:pt x="0" y="0"/>
                  </a:moveTo>
                  <a:lnTo>
                    <a:pt x="2379126" y="0"/>
                  </a:lnTo>
                  <a:lnTo>
                    <a:pt x="2379126" y="3090597"/>
                  </a:lnTo>
                  <a:lnTo>
                    <a:pt x="0" y="309059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79126" cy="3138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45164" y="7338393"/>
            <a:ext cx="3920855" cy="4135507"/>
            <a:chOff x="0" y="0"/>
            <a:chExt cx="1032653" cy="1089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2653" cy="1089187"/>
            </a:xfrm>
            <a:custGeom>
              <a:avLst/>
              <a:gdLst/>
              <a:ahLst/>
              <a:cxnLst/>
              <a:rect r="r" b="b" t="t" l="l"/>
              <a:pathLst>
                <a:path h="1089187" w="1032653">
                  <a:moveTo>
                    <a:pt x="0" y="0"/>
                  </a:moveTo>
                  <a:lnTo>
                    <a:pt x="1032653" y="0"/>
                  </a:lnTo>
                  <a:lnTo>
                    <a:pt x="1032653" y="1089187"/>
                  </a:lnTo>
                  <a:lnTo>
                    <a:pt x="0" y="108918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32653" cy="1136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787476" y="1362602"/>
            <a:ext cx="9090748" cy="8568247"/>
          </a:xfrm>
          <a:custGeom>
            <a:avLst/>
            <a:gdLst/>
            <a:ahLst/>
            <a:cxnLst/>
            <a:rect r="r" b="b" t="t" l="l"/>
            <a:pathLst>
              <a:path h="8568247" w="9090748">
                <a:moveTo>
                  <a:pt x="0" y="0"/>
                </a:moveTo>
                <a:lnTo>
                  <a:pt x="9090749" y="0"/>
                </a:lnTo>
                <a:lnTo>
                  <a:pt x="9090749" y="8568248"/>
                </a:lnTo>
                <a:lnTo>
                  <a:pt x="0" y="856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5" t="0" r="-91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7097" y="457448"/>
            <a:ext cx="7600959" cy="161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The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306775"/>
            <a:ext cx="7039356" cy="362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8"/>
              </a:lnSpc>
            </a:pPr>
            <a:r>
              <a:rPr lang="en-US" sz="3384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Large Language Models can be </a:t>
            </a:r>
            <a:r>
              <a:rPr lang="en-US" sz="3384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tricked into generating harmful content</a:t>
            </a:r>
            <a:r>
              <a:rPr lang="en-US" sz="3384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through jailbreak attacks, even when trained with safety measures like RLHF.</a:t>
            </a:r>
          </a:p>
          <a:p>
            <a:pPr algn="ctr" marL="0" indent="0" lvl="0">
              <a:lnSpc>
                <a:spcPts val="473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271718"/>
            <a:ext cx="7109797" cy="2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Risk:</a:t>
            </a:r>
            <a:r>
              <a:rPr lang="en-US" sz="3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Exposure to unethical, illegal, or dangerous information that bypasses safety filters.</a:t>
            </a:r>
          </a:p>
          <a:p>
            <a:pPr algn="just">
              <a:lnSpc>
                <a:spcPts val="46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83033" y="2232867"/>
            <a:ext cx="9827033" cy="3798827"/>
            <a:chOff x="0" y="0"/>
            <a:chExt cx="2588190" cy="1000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88190" cy="1000514"/>
            </a:xfrm>
            <a:custGeom>
              <a:avLst/>
              <a:gdLst/>
              <a:ahLst/>
              <a:cxnLst/>
              <a:rect r="r" b="b" t="t" l="l"/>
              <a:pathLst>
                <a:path h="1000514" w="2588190">
                  <a:moveTo>
                    <a:pt x="0" y="0"/>
                  </a:moveTo>
                  <a:lnTo>
                    <a:pt x="2588190" y="0"/>
                  </a:lnTo>
                  <a:lnTo>
                    <a:pt x="2588190" y="1000514"/>
                  </a:lnTo>
                  <a:lnTo>
                    <a:pt x="0" y="1000514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88190" cy="10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83033" y="6031694"/>
            <a:ext cx="9827033" cy="3798827"/>
            <a:chOff x="0" y="0"/>
            <a:chExt cx="2588190" cy="1000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88190" cy="1000514"/>
            </a:xfrm>
            <a:custGeom>
              <a:avLst/>
              <a:gdLst/>
              <a:ahLst/>
              <a:cxnLst/>
              <a:rect r="r" b="b" t="t" l="l"/>
              <a:pathLst>
                <a:path h="1000514" w="2588190">
                  <a:moveTo>
                    <a:pt x="0" y="0"/>
                  </a:moveTo>
                  <a:lnTo>
                    <a:pt x="2588190" y="0"/>
                  </a:lnTo>
                  <a:lnTo>
                    <a:pt x="2588190" y="1000514"/>
                  </a:lnTo>
                  <a:lnTo>
                    <a:pt x="0" y="1000514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588190" cy="10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03067" y="145539"/>
            <a:ext cx="13481865" cy="160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Contributions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6533" y="2667161"/>
            <a:ext cx="7254106" cy="2806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7119" indent="-338559" lvl="1">
              <a:lnSpc>
                <a:spcPts val="4390"/>
              </a:lnSpc>
              <a:buFont typeface="Arial"/>
              <a:buChar char="•"/>
            </a:pPr>
            <a:r>
              <a:rPr lang="en-US" b="true" sz="313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 comparative analysis</a:t>
            </a:r>
            <a:r>
              <a:rPr lang="en-US" sz="31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of three open-source </a:t>
            </a:r>
            <a:r>
              <a:rPr lang="en-US" sz="31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LLMs (Mistral-7B-Instruct-v2, Llama-3.1-8BInstruct,Qwen-2.5-7B) under jailbreak attacks(PAIR, DSN etc.)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533" y="6522925"/>
            <a:ext cx="7254106" cy="2806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7119" indent="-338559" lvl="1">
              <a:lnSpc>
                <a:spcPts val="4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Evaluation of two lightweight defenses</a:t>
            </a:r>
            <a:r>
              <a:rPr lang="en-US" sz="31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(Smooth-</a:t>
            </a:r>
            <a:r>
              <a:rPr lang="en-US" sz="31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LLM and Perplexity Filter), showing their varying effectiveness across models and attack types.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2232867"/>
            <a:ext cx="9827033" cy="3798827"/>
            <a:chOff x="0" y="0"/>
            <a:chExt cx="2588190" cy="10005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88190" cy="1000514"/>
            </a:xfrm>
            <a:custGeom>
              <a:avLst/>
              <a:gdLst/>
              <a:ahLst/>
              <a:cxnLst/>
              <a:rect r="r" b="b" t="t" l="l"/>
              <a:pathLst>
                <a:path h="1000514" w="2588190">
                  <a:moveTo>
                    <a:pt x="0" y="0"/>
                  </a:moveTo>
                  <a:lnTo>
                    <a:pt x="2588190" y="0"/>
                  </a:lnTo>
                  <a:lnTo>
                    <a:pt x="2588190" y="1000514"/>
                  </a:lnTo>
                  <a:lnTo>
                    <a:pt x="0" y="1000514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588190" cy="10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6031694"/>
            <a:ext cx="9827033" cy="3798827"/>
            <a:chOff x="0" y="0"/>
            <a:chExt cx="2588190" cy="10005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88190" cy="1000514"/>
            </a:xfrm>
            <a:custGeom>
              <a:avLst/>
              <a:gdLst/>
              <a:ahLst/>
              <a:cxnLst/>
              <a:rect r="r" b="b" t="t" l="l"/>
              <a:pathLst>
                <a:path h="1000514" w="2588190">
                  <a:moveTo>
                    <a:pt x="0" y="0"/>
                  </a:moveTo>
                  <a:lnTo>
                    <a:pt x="2588190" y="0"/>
                  </a:lnTo>
                  <a:lnTo>
                    <a:pt x="2588190" y="1000514"/>
                  </a:lnTo>
                  <a:lnTo>
                    <a:pt x="0" y="1000514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88190" cy="104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05194" y="2737329"/>
            <a:ext cx="7254106" cy="225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7119" indent="-338559" lvl="1">
              <a:lnSpc>
                <a:spcPts val="4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Comprehensive benchmarking</a:t>
            </a:r>
            <a:r>
              <a:rPr lang="en-US" sz="31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of Attack Success </a:t>
            </a:r>
            <a:r>
              <a:rPr lang="en-US" sz="31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Rate (ASR) and coherence, revealing strong vulnerabilities without defenses.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5194" y="6522925"/>
            <a:ext cx="7254106" cy="225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7119" indent="-338559" lvl="1">
              <a:lnSpc>
                <a:spcPts val="439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36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Insight</a:t>
            </a:r>
            <a:r>
              <a:rPr lang="en-US" sz="31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into model-specific robustness, with future </a:t>
            </a:r>
            <a:r>
              <a:rPr lang="en-US" sz="31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directions toward knowledge distillation for generalized defenses.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76146" y="2089644"/>
            <a:ext cx="9382568" cy="3854470"/>
            <a:chOff x="0" y="0"/>
            <a:chExt cx="2471129" cy="1015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1129" cy="1015169"/>
            </a:xfrm>
            <a:custGeom>
              <a:avLst/>
              <a:gdLst/>
              <a:ahLst/>
              <a:cxnLst/>
              <a:rect r="r" b="b" t="t" l="l"/>
              <a:pathLst>
                <a:path h="1015169" w="2471129">
                  <a:moveTo>
                    <a:pt x="0" y="0"/>
                  </a:moveTo>
                  <a:lnTo>
                    <a:pt x="2471129" y="0"/>
                  </a:lnTo>
                  <a:lnTo>
                    <a:pt x="2471129" y="1015169"/>
                  </a:lnTo>
                  <a:lnTo>
                    <a:pt x="0" y="1015169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71129" cy="1062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715940"/>
            <a:ext cx="9000965" cy="3663668"/>
            <a:chOff x="0" y="0"/>
            <a:chExt cx="2370625" cy="964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0625" cy="964917"/>
            </a:xfrm>
            <a:custGeom>
              <a:avLst/>
              <a:gdLst/>
              <a:ahLst/>
              <a:cxnLst/>
              <a:rect r="r" b="b" t="t" l="l"/>
              <a:pathLst>
                <a:path h="964917" w="2370625">
                  <a:moveTo>
                    <a:pt x="0" y="0"/>
                  </a:moveTo>
                  <a:lnTo>
                    <a:pt x="2370625" y="0"/>
                  </a:lnTo>
                  <a:lnTo>
                    <a:pt x="2370625" y="964917"/>
                  </a:lnTo>
                  <a:lnTo>
                    <a:pt x="0" y="96491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70625" cy="1012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29998" y="4400594"/>
            <a:ext cx="3628004" cy="3225625"/>
          </a:xfrm>
          <a:custGeom>
            <a:avLst/>
            <a:gdLst/>
            <a:ahLst/>
            <a:cxnLst/>
            <a:rect r="r" b="b" t="t" l="l"/>
            <a:pathLst>
              <a:path h="3225625" w="3628004">
                <a:moveTo>
                  <a:pt x="0" y="0"/>
                </a:moveTo>
                <a:lnTo>
                  <a:pt x="3628004" y="0"/>
                </a:lnTo>
                <a:lnTo>
                  <a:pt x="3628004" y="3225625"/>
                </a:lnTo>
                <a:lnTo>
                  <a:pt x="0" y="3225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20200" y="2994354"/>
            <a:ext cx="7139100" cy="191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297" indent="-360149" lvl="1">
              <a:lnSpc>
                <a:spcPts val="4670"/>
              </a:lnSpc>
              <a:buFont typeface="Arial"/>
              <a:buChar char="•"/>
            </a:pPr>
            <a:r>
              <a:rPr lang="en-US" sz="33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Mistral-7B-Instruct-v2</a:t>
            </a:r>
          </a:p>
          <a:p>
            <a:pPr algn="l" marL="785066" indent="-392533" lvl="1">
              <a:lnSpc>
                <a:spcPts val="5090"/>
              </a:lnSpc>
              <a:buFont typeface="Arial"/>
              <a:buChar char="•"/>
            </a:pPr>
            <a:r>
              <a:rPr lang="en-US" sz="36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Llama-3.1-8B-Instruct</a:t>
            </a:r>
          </a:p>
          <a:p>
            <a:pPr algn="l" marL="785066" indent="-392533" lvl="1">
              <a:lnSpc>
                <a:spcPts val="5090"/>
              </a:lnSpc>
              <a:spcBef>
                <a:spcPct val="0"/>
              </a:spcBef>
              <a:buFont typeface="Arial"/>
              <a:buChar char="•"/>
            </a:pPr>
            <a:r>
              <a:rPr lang="en-US" sz="36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Qwen-2.5-7B-Instruct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26280" y="162202"/>
            <a:ext cx="12035441" cy="155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630"/>
              </a:lnSpc>
              <a:spcBef>
                <a:spcPct val="0"/>
              </a:spcBef>
            </a:pPr>
            <a:r>
              <a:rPr lang="en-US" b="true" sz="9021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Research Approach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1899" y="3433138"/>
            <a:ext cx="5720356" cy="96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50"/>
              </a:lnSpc>
              <a:spcBef>
                <a:spcPct val="0"/>
              </a:spcBef>
            </a:pPr>
            <a:r>
              <a:rPr lang="en-US" b="true" sz="5036" i="true">
                <a:solidFill>
                  <a:srgbClr val="000000"/>
                </a:solidFill>
                <a:latin typeface="Futura Bold Italics"/>
                <a:ea typeface="Futura Bold Italics"/>
                <a:cs typeface="Futura Bold Italics"/>
                <a:sym typeface="Futura Bold Italics"/>
              </a:rPr>
              <a:t>Models Tested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42907" y="7462622"/>
            <a:ext cx="4093685" cy="108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13"/>
              </a:lnSpc>
              <a:spcBef>
                <a:spcPct val="0"/>
              </a:spcBef>
            </a:pPr>
            <a:r>
              <a:rPr lang="en-US" b="true" sz="5652" i="true">
                <a:solidFill>
                  <a:srgbClr val="000000"/>
                </a:solidFill>
                <a:latin typeface="Futura Bold Italics"/>
                <a:ea typeface="Futura Bold Italics"/>
                <a:cs typeface="Futura Bold Italics"/>
                <a:sym typeface="Futura Bold Italics"/>
              </a:rPr>
              <a:t>Attack Types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870976"/>
            <a:ext cx="6573555" cy="341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901" indent="-346451" lvl="1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PAIR</a:t>
            </a:r>
          </a:p>
          <a:p>
            <a:pPr algn="l" marL="692901" indent="-346451" lvl="1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DSN (Don’t Say No</a:t>
            </a:r>
          </a:p>
          <a:p>
            <a:pPr algn="l" marL="692901" indent="-346451" lvl="1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JBB (Behavior)</a:t>
            </a:r>
          </a:p>
          <a:p>
            <a:pPr algn="l" marL="692901" indent="-346451" lvl="1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DAN (Do Anything Now)</a:t>
            </a:r>
          </a:p>
          <a:p>
            <a:pPr algn="l" marL="692901" indent="-346451" lvl="1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GPTFuzzer</a:t>
            </a:r>
          </a:p>
          <a:p>
            <a:pPr algn="l">
              <a:lnSpc>
                <a:spcPts val="4493"/>
              </a:lnSpc>
            </a:pPr>
            <a:r>
              <a:rPr lang="en-US" sz="320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Total : 1043 jailbreak prompts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89399"/>
            <a:ext cx="18288000" cy="8297601"/>
            <a:chOff x="0" y="0"/>
            <a:chExt cx="4816593" cy="2185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85376"/>
            </a:xfrm>
            <a:custGeom>
              <a:avLst/>
              <a:gdLst/>
              <a:ahLst/>
              <a:cxnLst/>
              <a:rect r="r" b="b" t="t" l="l"/>
              <a:pathLst>
                <a:path h="218537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85376"/>
                  </a:lnTo>
                  <a:lnTo>
                    <a:pt x="0" y="2185376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2330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968138" y="2040243"/>
            <a:ext cx="9224519" cy="8246757"/>
          </a:xfrm>
          <a:custGeom>
            <a:avLst/>
            <a:gdLst/>
            <a:ahLst/>
            <a:cxnLst/>
            <a:rect r="r" b="b" t="t" l="l"/>
            <a:pathLst>
              <a:path h="8246757" w="9224519">
                <a:moveTo>
                  <a:pt x="0" y="0"/>
                </a:moveTo>
                <a:lnTo>
                  <a:pt x="9224519" y="0"/>
                </a:lnTo>
                <a:lnTo>
                  <a:pt x="9224519" y="8246757"/>
                </a:lnTo>
                <a:lnTo>
                  <a:pt x="0" y="8246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17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40394" y="333534"/>
            <a:ext cx="8655487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3915" y="4056074"/>
            <a:ext cx="7359056" cy="354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7"/>
              </a:lnSpc>
            </a:pPr>
            <a:r>
              <a:rPr lang="en-US" sz="50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Pipeline of the evaluation for benchmarking the target LLMs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643" y="2759875"/>
            <a:ext cx="17195880" cy="7057875"/>
            <a:chOff x="0" y="0"/>
            <a:chExt cx="4528956" cy="1858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8956" cy="1858864"/>
            </a:xfrm>
            <a:custGeom>
              <a:avLst/>
              <a:gdLst/>
              <a:ahLst/>
              <a:cxnLst/>
              <a:rect r="r" b="b" t="t" l="l"/>
              <a:pathLst>
                <a:path h="1858864" w="4528956">
                  <a:moveTo>
                    <a:pt x="0" y="0"/>
                  </a:moveTo>
                  <a:lnTo>
                    <a:pt x="4528956" y="0"/>
                  </a:lnTo>
                  <a:lnTo>
                    <a:pt x="4528956" y="1858864"/>
                  </a:lnTo>
                  <a:lnTo>
                    <a:pt x="0" y="1858864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28956" cy="1906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65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35576" y="3100740"/>
            <a:ext cx="2228466" cy="222846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801006" y="3100740"/>
            <a:ext cx="2228466" cy="2228466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66439" y="3100740"/>
            <a:ext cx="2228466" cy="2228466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239808" y="981075"/>
            <a:ext cx="13325186" cy="88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13"/>
              </a:lnSpc>
            </a:pPr>
            <a:r>
              <a:rPr lang="en-US" b="true" sz="5522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Without Defense : Highly Vulnerable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1281" y="5323191"/>
            <a:ext cx="2037054" cy="57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50"/>
              </a:lnSpc>
              <a:spcBef>
                <a:spcPct val="0"/>
              </a:spcBef>
            </a:pPr>
            <a:r>
              <a:rPr lang="en-US" sz="30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Mistral-7B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93746" y="5380341"/>
            <a:ext cx="2501009" cy="51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</a:pPr>
            <a:r>
              <a:rPr lang="en-US" sz="30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Llama-3.1-8B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30167" y="5380341"/>
            <a:ext cx="2501009" cy="51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</a:pPr>
            <a:r>
              <a:rPr lang="en-US" sz="303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Qwen-2.5-7B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3594" y="7794778"/>
            <a:ext cx="17028928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 models are easily jailbroken without defenses - Qwen shows slightly better baseline safety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2125" y="2270055"/>
            <a:ext cx="4477296" cy="1298625"/>
            <a:chOff x="0" y="0"/>
            <a:chExt cx="1179205" cy="3420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9205" cy="342025"/>
            </a:xfrm>
            <a:custGeom>
              <a:avLst/>
              <a:gdLst/>
              <a:ahLst/>
              <a:cxnLst/>
              <a:rect r="r" b="b" t="t" l="l"/>
              <a:pathLst>
                <a:path h="342025" w="1179205">
                  <a:moveTo>
                    <a:pt x="0" y="0"/>
                  </a:moveTo>
                  <a:lnTo>
                    <a:pt x="1179205" y="0"/>
                  </a:lnTo>
                  <a:lnTo>
                    <a:pt x="1179205" y="342025"/>
                  </a:lnTo>
                  <a:lnTo>
                    <a:pt x="0" y="342025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179205" cy="40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72"/>
                </a:lnSpc>
              </a:pPr>
              <a:r>
                <a:rPr lang="en-US" b="true" sz="3051" i="true">
                  <a:solidFill>
                    <a:srgbClr val="000000"/>
                  </a:solidFill>
                  <a:latin typeface="Glacial Indifference Bold Italics"/>
                  <a:ea typeface="Glacial Indifference Bold Italics"/>
                  <a:cs typeface="Glacial Indifference Bold Italics"/>
                  <a:sym typeface="Glacial Indifference Bold Italics"/>
                </a:rPr>
                <a:t>SmoothLLM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52018" y="7232507"/>
            <a:ext cx="4477296" cy="1144105"/>
            <a:chOff x="0" y="0"/>
            <a:chExt cx="1179205" cy="3013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9205" cy="301328"/>
            </a:xfrm>
            <a:custGeom>
              <a:avLst/>
              <a:gdLst/>
              <a:ahLst/>
              <a:cxnLst/>
              <a:rect r="r" b="b" t="t" l="l"/>
              <a:pathLst>
                <a:path h="301328" w="1179205">
                  <a:moveTo>
                    <a:pt x="0" y="0"/>
                  </a:moveTo>
                  <a:lnTo>
                    <a:pt x="1179205" y="0"/>
                  </a:lnTo>
                  <a:lnTo>
                    <a:pt x="1179205" y="301328"/>
                  </a:lnTo>
                  <a:lnTo>
                    <a:pt x="0" y="301328"/>
                  </a:ln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179205" cy="368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72"/>
                </a:lnSpc>
              </a:pPr>
              <a:r>
                <a:rPr lang="en-US" b="true" sz="3051" i="true">
                  <a:solidFill>
                    <a:srgbClr val="000000"/>
                  </a:solidFill>
                  <a:latin typeface="Glacial Indifference Bold Italics"/>
                  <a:ea typeface="Glacial Indifference Bold Italics"/>
                  <a:cs typeface="Glacial Indifference Bold Italics"/>
                  <a:sym typeface="Glacial Indifference Bold Italics"/>
                </a:rPr>
                <a:t>Perplexity Filter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12229313" y="3002615"/>
            <a:ext cx="636116" cy="0"/>
          </a:xfrm>
          <a:prstGeom prst="line">
            <a:avLst/>
          </a:prstGeom>
          <a:ln cap="flat" w="38100">
            <a:solidFill>
              <a:srgbClr val="46573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12347478" y="7829597"/>
            <a:ext cx="636116" cy="0"/>
          </a:xfrm>
          <a:prstGeom prst="line">
            <a:avLst/>
          </a:prstGeom>
          <a:ln cap="flat" w="38100">
            <a:solidFill>
              <a:srgbClr val="465739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563137" y="-247664"/>
            <a:ext cx="6584375" cy="11174045"/>
            <a:chOff x="0" y="0"/>
            <a:chExt cx="1734156" cy="29429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4156" cy="2942958"/>
            </a:xfrm>
            <a:custGeom>
              <a:avLst/>
              <a:gdLst/>
              <a:ahLst/>
              <a:cxnLst/>
              <a:rect r="r" b="b" t="t" l="l"/>
              <a:pathLst>
                <a:path h="2942958" w="1734156">
                  <a:moveTo>
                    <a:pt x="0" y="0"/>
                  </a:moveTo>
                  <a:lnTo>
                    <a:pt x="1734156" y="0"/>
                  </a:lnTo>
                  <a:lnTo>
                    <a:pt x="1734156" y="2942958"/>
                  </a:lnTo>
                  <a:lnTo>
                    <a:pt x="0" y="2942958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734156" cy="299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19769" y="2535438"/>
            <a:ext cx="6071112" cy="469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1"/>
              </a:lnSpc>
            </a:pPr>
            <a:r>
              <a:rPr lang="en-US" sz="9051" b="true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Defense</a:t>
            </a:r>
          </a:p>
          <a:p>
            <a:pPr algn="l">
              <a:lnSpc>
                <a:spcPts val="12391"/>
              </a:lnSpc>
            </a:pPr>
            <a:r>
              <a:rPr lang="en-US" sz="8851" b="true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Mechanism</a:t>
            </a:r>
          </a:p>
          <a:p>
            <a:pPr algn="l" marL="0" indent="0" lvl="0">
              <a:lnSpc>
                <a:spcPts val="12391"/>
              </a:lnSpc>
              <a:spcBef>
                <a:spcPct val="0"/>
              </a:spcBef>
            </a:pPr>
            <a:r>
              <a:rPr lang="en-US" b="true" sz="8851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Tested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65454" y="2165280"/>
            <a:ext cx="4968774" cy="317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Method:</a:t>
            </a:r>
            <a:r>
              <a:rPr lang="en-US" sz="25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Input perturbation</a:t>
            </a:r>
          </a:p>
          <a:p>
            <a:pPr algn="just">
              <a:lnSpc>
                <a:spcPts val="3550"/>
              </a:lnSpc>
            </a:pPr>
            <a:r>
              <a:rPr lang="en-US" sz="25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Creates 2 variants with 5% character swaps, uses majority voting to detect adversarial prompts</a:t>
            </a:r>
          </a:p>
          <a:p>
            <a:pPr algn="just">
              <a:lnSpc>
                <a:spcPts val="3550"/>
              </a:lnSpc>
            </a:pPr>
          </a:p>
          <a:p>
            <a:pPr algn="just" marL="0" indent="0" lvl="0">
              <a:lnSpc>
                <a:spcPts val="355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983594" y="6762574"/>
            <a:ext cx="4968774" cy="272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0"/>
              </a:lnSpc>
            </a:pPr>
            <a:r>
              <a:rPr lang="en-US" sz="2536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Method:</a:t>
            </a:r>
            <a:r>
              <a:rPr lang="en-US" sz="25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Statistical anomaly detection</a:t>
            </a:r>
          </a:p>
          <a:p>
            <a:pPr algn="ctr">
              <a:lnSpc>
                <a:spcPts val="3550"/>
              </a:lnSpc>
            </a:pPr>
            <a:r>
              <a:rPr lang="en-US" sz="253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Uses GPT-2 to measure prompt fluency and blocks high-perplexity anomalous inputs</a:t>
            </a:r>
          </a:p>
          <a:p>
            <a:pPr algn="ctr" marL="0" indent="0" lvl="0">
              <a:lnSpc>
                <a:spcPts val="35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99115" y="0"/>
            <a:ext cx="26636823" cy="10287000"/>
            <a:chOff x="0" y="0"/>
            <a:chExt cx="701546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154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7015459">
                  <a:moveTo>
                    <a:pt x="0" y="0"/>
                  </a:moveTo>
                  <a:lnTo>
                    <a:pt x="7015459" y="0"/>
                  </a:lnTo>
                  <a:lnTo>
                    <a:pt x="70154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01546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8917" y="1372737"/>
            <a:ext cx="16497484" cy="7949498"/>
          </a:xfrm>
          <a:custGeom>
            <a:avLst/>
            <a:gdLst/>
            <a:ahLst/>
            <a:cxnLst/>
            <a:rect r="r" b="b" t="t" l="l"/>
            <a:pathLst>
              <a:path h="7949498" w="16497484">
                <a:moveTo>
                  <a:pt x="0" y="0"/>
                </a:moveTo>
                <a:lnTo>
                  <a:pt x="16497484" y="0"/>
                </a:lnTo>
                <a:lnTo>
                  <a:pt x="16497484" y="7949498"/>
                </a:lnTo>
                <a:lnTo>
                  <a:pt x="0" y="794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79944" y="0"/>
            <a:ext cx="9492881" cy="11214038"/>
            <a:chOff x="0" y="0"/>
            <a:chExt cx="2500183" cy="2953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0183" cy="2953491"/>
            </a:xfrm>
            <a:custGeom>
              <a:avLst/>
              <a:gdLst/>
              <a:ahLst/>
              <a:cxnLst/>
              <a:rect r="r" b="b" t="t" l="l"/>
              <a:pathLst>
                <a:path h="2953491" w="2500183">
                  <a:moveTo>
                    <a:pt x="0" y="0"/>
                  </a:moveTo>
                  <a:lnTo>
                    <a:pt x="2500183" y="0"/>
                  </a:lnTo>
                  <a:lnTo>
                    <a:pt x="2500183" y="2953491"/>
                  </a:lnTo>
                  <a:lnTo>
                    <a:pt x="0" y="2953491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00183" cy="3001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361790" y="3856871"/>
            <a:ext cx="9156908" cy="175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10"/>
              </a:lnSpc>
              <a:spcBef>
                <a:spcPct val="0"/>
              </a:spcBef>
            </a:pPr>
            <a:r>
              <a:rPr lang="en-US" b="true" sz="10221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Findings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76091" y="1236314"/>
            <a:ext cx="8300587" cy="867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 i="true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DAN and GPTFuzzer attacks remain challenging even with defenses, especially for Mistral</a:t>
            </a:r>
          </a:p>
          <a:p>
            <a:pPr algn="just">
              <a:lnSpc>
                <a:spcPts val="4339"/>
              </a:lnSpc>
            </a:pPr>
          </a:p>
          <a:p>
            <a:pPr algn="just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 i="true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SmoothLLM outperforms PerplexityFilter across all models tested</a:t>
            </a:r>
          </a:p>
          <a:p>
            <a:pPr algn="just">
              <a:lnSpc>
                <a:spcPts val="4339"/>
              </a:lnSpc>
            </a:pPr>
          </a:p>
          <a:p>
            <a:pPr algn="just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 i="true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Defense effectiveness varies significantly by model architecture- no one-size-fits-all solution</a:t>
            </a:r>
          </a:p>
          <a:p>
            <a:pPr algn="just">
              <a:lnSpc>
                <a:spcPts val="4339"/>
              </a:lnSpc>
            </a:pPr>
          </a:p>
          <a:p>
            <a:pPr algn="just" marL="669289" indent="-334645" lvl="1">
              <a:lnSpc>
                <a:spcPts val="4339"/>
              </a:lnSpc>
              <a:buFont typeface="Arial"/>
              <a:buChar char="•"/>
            </a:pPr>
            <a:r>
              <a:rPr lang="en-US" sz="3099" i="true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High coherence scores in jailbroken outputs make harmful content appear natural and believable</a:t>
            </a:r>
          </a:p>
          <a:p>
            <a:pPr algn="just">
              <a:lnSpc>
                <a:spcPts val="4339"/>
              </a:lnSpc>
            </a:pPr>
          </a:p>
          <a:p>
            <a:pPr algn="l" marL="0" indent="0" lvl="0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41361" y="-2496160"/>
            <a:ext cx="15656483" cy="1565648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76222" y="3312157"/>
            <a:ext cx="5578060" cy="5020254"/>
          </a:xfrm>
          <a:custGeom>
            <a:avLst/>
            <a:gdLst/>
            <a:ahLst/>
            <a:cxnLst/>
            <a:rect r="r" b="b" t="t" l="l"/>
            <a:pathLst>
              <a:path h="5020254" w="5578060">
                <a:moveTo>
                  <a:pt x="0" y="0"/>
                </a:moveTo>
                <a:lnTo>
                  <a:pt x="5578060" y="0"/>
                </a:lnTo>
                <a:lnTo>
                  <a:pt x="5578060" y="5020254"/>
                </a:lnTo>
                <a:lnTo>
                  <a:pt x="0" y="5020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262084"/>
            <a:ext cx="9915699" cy="202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84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Current defenses reduce ASR but don't work equally for all models. </a:t>
            </a:r>
            <a:r>
              <a:rPr lang="en-US" sz="2840" b="tru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Model-agnostic solutions are needed</a:t>
            </a:r>
            <a:r>
              <a:rPr lang="en-US" sz="284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to ensure robust LLM safety without compromising performance.</a:t>
            </a:r>
          </a:p>
          <a:p>
            <a:pPr algn="l" marL="0" indent="0" lvl="0">
              <a:lnSpc>
                <a:spcPts val="397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279745"/>
            <a:ext cx="9371920" cy="400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283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Future work may extend this research to the following arenas :</a:t>
            </a:r>
          </a:p>
          <a:p>
            <a:pPr algn="l">
              <a:lnSpc>
                <a:spcPts val="3975"/>
              </a:lnSpc>
            </a:pPr>
          </a:p>
          <a:p>
            <a:pPr algn="l">
              <a:lnSpc>
                <a:spcPts val="3975"/>
              </a:lnSpc>
            </a:pPr>
            <a:r>
              <a:rPr lang="en-US" sz="283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🔬 Knowledge Distillation </a:t>
            </a:r>
          </a:p>
          <a:p>
            <a:pPr algn="l">
              <a:lnSpc>
                <a:spcPts val="3975"/>
              </a:lnSpc>
            </a:pPr>
            <a:r>
              <a:rPr lang="en-US" sz="283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🔄 Hybrid Defense Frameworks</a:t>
            </a:r>
          </a:p>
          <a:p>
            <a:pPr algn="l">
              <a:lnSpc>
                <a:spcPts val="3975"/>
              </a:lnSpc>
            </a:pPr>
            <a:r>
              <a:rPr lang="en-US" sz="283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📈 Larger Model Evaluation </a:t>
            </a:r>
          </a:p>
          <a:p>
            <a:pPr algn="l">
              <a:lnSpc>
                <a:spcPts val="3975"/>
              </a:lnSpc>
            </a:pPr>
            <a:r>
              <a:rPr lang="en-US" sz="2839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🧪 More Attack Types</a:t>
            </a:r>
          </a:p>
          <a:p>
            <a:pPr algn="l" marL="0" indent="0" lvl="0">
              <a:lnSpc>
                <a:spcPts val="3975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5829"/>
            <a:ext cx="9691523" cy="491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50"/>
              </a:lnSpc>
            </a:pPr>
            <a:r>
              <a:rPr lang="en-US" sz="9321" b="true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 &amp; Future Work</a:t>
            </a:r>
          </a:p>
          <a:p>
            <a:pPr algn="l" marL="0" indent="0" lvl="0">
              <a:lnSpc>
                <a:spcPts val="130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756206" y="-514350"/>
            <a:ext cx="6163724" cy="3086100"/>
            <a:chOff x="0" y="0"/>
            <a:chExt cx="162336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3368" cy="812800"/>
            </a:xfrm>
            <a:custGeom>
              <a:avLst/>
              <a:gdLst/>
              <a:ahLst/>
              <a:cxnLst/>
              <a:rect r="r" b="b" t="t" l="l"/>
              <a:pathLst>
                <a:path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582136" y="8362283"/>
            <a:ext cx="7059741" cy="3086100"/>
            <a:chOff x="0" y="0"/>
            <a:chExt cx="185935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59356" cy="812800"/>
            </a:xfrm>
            <a:custGeom>
              <a:avLst/>
              <a:gdLst/>
              <a:ahLst/>
              <a:cxnLst/>
              <a:rect r="r" b="b" t="t" l="l"/>
              <a:pathLst>
                <a:path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1519" y="1990725"/>
            <a:ext cx="14744962" cy="72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99"/>
              </a:lnSpc>
            </a:pPr>
            <a:r>
              <a:rPr lang="en-US" b="true" sz="24999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DAG_D7GGVTI</dc:identifier>
  <dcterms:modified xsi:type="dcterms:W3CDTF">2011-08-01T06:04:30Z</dcterms:modified>
  <cp:revision>1</cp:revision>
  <dc:title>Conference Slide</dc:title>
</cp:coreProperties>
</file>